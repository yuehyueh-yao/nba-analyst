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課程 AI-10 · 結構型資料的分析案例  結案報告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NBA 對戰勝率預測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結構型資料建模：從賽前特徵到 2026-27 開季勝率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074920"/>
            <a:ext cx="2453563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執行者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姚玥樂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22243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22243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講師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243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Alex Huang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5847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2026-08-06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451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451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451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GitHub · Streamlit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封面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問題定義與資料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目標、成功標準／baseline、資料來源與 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60904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60904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特徵工程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43 個賽前特徵、防洩漏三鐵律、Elo 設計與實驗取捨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30168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30168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建模與評估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三模型調校、六指標總表、四張診斷圖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9432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99432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工程品質與推論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pytest 防洩漏測試、抓到的真 bug、合成比賽推論法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68696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6869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68696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Demo、部署與未來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Streamlit Demo、GitHub → Streamlit Cloud、下一步規劃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大綱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專案目標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賽前二元分類：預測主場是否獲勝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949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79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問題定義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比賽開打前已知的主／客隊對戰組合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主隊獲勝機率（0–1）＋ 勝負判定（閾值 0.5）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標籤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HOME_TEAM_WINS（主隊贏=1／輸=0）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範圍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例行賽賽前預測，不使用當場任何結果資訊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37360"/>
            <a:ext cx="528523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79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為什麼是這個問題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結構型資料（每場比賽一列、欄位固定），適合示範完整的特徵工程 → 建模 → 評估 → 部署流程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主場優勢是已知的強先驗，天然形成一個「不難打贏、但也不容易大幅超越」的挑戰性 baseline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可延伸做成互動 Demo：選兩隊即得到可解讀的勝率預測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專案目標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成功標準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要打敗的門檻：主場必勝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3832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54.94%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249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 baseline（主場必勝）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test 2024–2025 賽季（2,450 場）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策略：永遠預測主隊贏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ROC-AUC = 0.5（無鑑別力）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737360"/>
            <a:ext cx="3383280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1945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67.84%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249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最佳模型（Logistic Regression）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ROC-AUC = 0.7292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較 baseline 提升 +12.90 pp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同一測試集、同一時序切分，公平對照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737360"/>
            <a:ext cx="368503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79"/>
            <a:ext cx="3200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成功標準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Accuracy／ROC-AUC 明顯高於主場必勝 baseline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機率輸出需合理校準，可直接用於 Demo 呈現勝率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全程防洩漏：特徵只用賽前資訊，時序切分train/test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成功標準與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資料來源與規模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9,509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總場數（例行賽）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9393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7993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涵蓋賽季數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7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747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55.71%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全期主場勝率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0901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9501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9501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賽前特徵欄位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63093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611880"/>
            <a:ext cx="5760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來源與涵蓋範圍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nba_api（免帳號）直接呼叫 stats.nba.com 官方例行賽資料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 2018–2025（共 8 季），最後一場 2026-04-12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已納入版控：data/raw/games.csv、teams.csv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383280"/>
            <a:ext cx="4325112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611880"/>
            <a:ext cx="3794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主要欄位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GAME_ID／GAME_DATE_EST／SEASON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HOME_TEAM_ID／VISITOR_TEAM_ID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PTS_home／PTS_away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HOME_TEAM_WINS（標籤）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資料來源與規模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探索性分析重點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55.71%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877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全期主場勝率（9,509 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91839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主場優勢明顯，符合 NBA 歷史經驗（一般落在 55–60%）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是本專案 baseline 的直接來源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8 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5877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賽季分布均勻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91839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2018–2025，每季約 1,180–1,230 場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時序涵蓋長，足以支撐時序切分 train/test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737360"/>
            <a:ext cx="341071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16 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877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缺值 / 暖機期處理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39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各隊資料首現時，滾動特徵為 NaN（尚無歷史可用）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以關鍵欄位 dropna 丟棄暖機期樣本後，train=7,043 / test=2,450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EDA 重點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特徵工程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43 個賽前特徵總覽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964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特徵分類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568" y="1737360"/>
            <a:ext cx="13051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欄位數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842" y="1737360"/>
            <a:ext cx="34130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66543"/>
            <a:ext cx="11094415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194560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滾動統計（近 5／10 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448" y="2194560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722" y="2194560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勝率／得分／失分／淨得分差，主隊、客隊、差值三種視角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52928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52928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EWMA 近況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3448" y="2852928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722" y="2852928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淨得分差的指數加權平均，近期表現權重更高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11296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11296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休息與背靠背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3448" y="3511296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722" y="3511296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休息天數、是否背靠背（rest_days／back_to_back）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9663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9663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賽季與主客場勝率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3448" y="4169663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722" y="4169663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賽季至今累積勝率、同場地（主／客）勝率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28031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1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對戰歷史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3448" y="4828031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722" y="4828031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兩隊交手歷史：主隊視角的勝率（h2h）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399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399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Elo 評分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3448" y="5486399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722" y="5486399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 Elo、期望勝率、Elo 差值（開發③新增）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90487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六大類合計 43 欄，對齊 models/feature_columns.json 的 43 個特徵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特徵工程總覽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防洩漏設計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防止資料洩漏的三鐵律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只用賽前已知資訊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嚴禁把該場比賽的 box score（得分、命中率等結果）當特徵；特徵只能反映「比賽開打前」已知的狀態。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逐場 shift(1) 才計算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所有滾動統計／累積勝率／Elo，都在球隊時間序列上先 shift(1)，確保當場結果永遠不會進入自己的特徵。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2116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時序切分 train/test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訓練用較早賽季、測試用最近賽季，絕不隨機切分，貼近「用過去預測未來」的真實情境。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防洩漏三鐵律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Elo 特徵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Elo 特徵設計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6692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更新公式（概念）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4F6FB"/>
                </a:solidFill>
                <a:latin typeface="Consolas"/>
                <a:ea typeface="Consolas"/>
                <a:cs typeface="Consolas"/>
              </a:rPr>
              <a:t>期望勝率　E_home = 1 / (1 + 10^(-(R_home+HFA-R_away)/400))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4F6FB"/>
                </a:solidFill>
                <a:latin typeface="Consolas"/>
                <a:ea typeface="Consolas"/>
                <a:cs typeface="Consolas"/>
              </a:rPr>
              <a:t>賽後更新　R_home ← R_home + K × (S_home − E_home)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賽前先讀出兩隊「目前」Elo 當特徵，記錄完才依實際結果更新——確保賽前 Elo 只反映該場之前的比賽（防洩漏）。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737360"/>
            <a:ext cx="478231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965960"/>
            <a:ext cx="42062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參數與貢獻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初始值 1500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K = 20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每場結果的更新幅度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 +100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計入期望勝率的等效分差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跨季回歸 0.75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新賽季開打前，Elo 向 1500 回歸，保留上季偏移量的 75%</a:t>
            </a:r>
          </a:p>
          <a:p>
            <a:pPr>
              <a:spcBef>
                <a:spcPts val="1000"/>
              </a:spcBef>
            </a:pPr>
            <a:r>
              <a:rPr sz="135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貢獻：加入 Elo 後 ROC-AUC 0.675 → 0.690</a:t>
            </a:r>
          </a:p>
          <a:p>
            <a:r>
              <a:rPr sz="105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（開發③加入 Elo 時的消融對照，6 季資料期間；</a:t>
            </a:r>
          </a:p>
          <a:p>
            <a:r>
              <a:rPr sz="105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與本報告 8 季／43 特徵最終結果 AUC 0.7292 分屬不同版本）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Elo 特徵設計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實驗與取捨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特徵實驗：進階 box-score 滾動是雜訊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640080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58521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對照實驗（同 LogReg、同時序切分）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原始 30 個特徵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63.88%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+ 淨得分差 + EWMA（39 欄）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63.77%（中性）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+ 單場命中率／助攻／籃板滾動（69 欄）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62.87%（下降）</a:t>
            </a:r>
          </a:p>
          <a:p>
            <a:pPr>
              <a:spcBef>
                <a:spcPts val="1200"/>
              </a:spcBef>
            </a:pP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結論：單場命中率／助攻／籃板滾動彼此高度相關、訊號 &lt; 雜訊，</a:t>
            </a:r>
          </a:p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加入後反而掉約 1% 準確率。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1737360"/>
            <a:ext cx="4050791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011679"/>
            <a:ext cx="3520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取捨決策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USE_ADVANCED_BOXSCORE = False（src/features.py，預設關閉）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淨得分差(pt_diff) + EWMA 近況：訊號中性但概念佳，保留供 XGBoost 等有正則化能力的模型使用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特徵實驗與取捨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建模與調校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Logistic Regression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Pipeline：中位數補值 → 標準化 → LogisticRegression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max_iter=1000，作為可解釋的線性基準模型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Decision Tree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max_depth=5、min_samples_leaf=20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刻意限制深度／葉節點樣本數，避免過擬合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3828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XGBoost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RandomizedSearchCV：25 組參數 × TimeSeriesSplit(3-fold)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搜尋空間涵蓋 n_estimators／max_depth／learning_rate／subsample／colsample_bytree／reg_lambda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11094415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572000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時序切分（防洩漏鐵律）　</a:t>
            </a: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train = 2018–2023（7,043 場） ／ test = 2024–2025（2,450 場）　絕不隨機切分，XGBoost 調參亦用 TimeSeriesSplit 而非會打亂時序的 KFold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建模與調校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評估結果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三模型 × 六指標總表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96631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59"/>
                <a:gridCol w="1405662"/>
                <a:gridCol w="1405662"/>
                <a:gridCol w="1405662"/>
                <a:gridCol w="1405662"/>
                <a:gridCol w="1405662"/>
                <a:gridCol w="140566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Accuracy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Precision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Recall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ROC-AUC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LogLoss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9731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Regression  ★ 最佳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67.84%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68.83%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75.78%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72.14%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0.7292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0.6044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Decision Tree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65.22%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65.46%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77.71%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71.06%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0.6935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0.6313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67.22%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68.58%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74.44%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71.39%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0.7246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0.6086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708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測試集：2024–2025 賽季，2,450 場；依 ROC-AUC 選出最佳模型 →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評估結果總表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診斷圖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混淆矩陣與 ROC 曲線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2578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920240"/>
            <a:ext cx="4224528" cy="352044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080759" y="1783080"/>
            <a:ext cx="52578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920240"/>
            <a:ext cx="4224528" cy="352044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 2,450 場（2024–2025 賽季）· 最佳模型 Logistic Regression · ROC-AUC = 0.7292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診斷圖：混淆矩陣 / 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診斷圖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特徵重要度與機率校準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9496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20240"/>
            <a:ext cx="4023360" cy="352044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217920" y="1783080"/>
            <a:ext cx="512064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ibr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920240"/>
            <a:ext cx="4224528" cy="352044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diff_elo／home_elo_pre／away_elo_pre 高居重要度前三 → 驗證 Elo 特徵的貢獻；校準曲線貼近對角線，機率輸出可直接用於 Demo 呈現勝率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診斷圖：特徵重要度 / 校準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 · 工程品質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pytest 12 條測試，抓到一個真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334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pytest 全綠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3 條防洩漏測試（Elo 初值／竄改結果不回流／合成比賽不污染既有資料）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3 條 baseline 對照測試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6 條推論冒煙測試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7159752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993391"/>
            <a:ext cx="6492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防洩漏測試抓到的真 bug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問題：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add_head_to_head 用 groupby.apply 依配對分組計算，結果內部順序已依組別重排；後續 np.where 卻用「位置」對齊、沒有 reindex 回原始列序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後果：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h2h_home_winrate 欄位 96% 的值被錯套到別的比賽列上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如何抓到：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以 GAME 22000002 手算驗證，正確值應為 0.5，程式當時算出 0.75 —— systematic-debugging 確認為真 bug（不是測試寫錯）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修法：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一行 .reindex(g.index)，把依組重排的結果對齊回原始列序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修正後：全量 pytest 12/12 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工程品質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 · 推論設計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合成比賽法：train / serve 共用同一條管線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組合成列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待預測比賽附加一列合成資料：GAME_ID=-1、PTS 缺值、標籤佔位</a:t>
            </a:r>
          </a:p>
        </p:txBody>
      </p:sp>
      <p:sp>
        <p:nvSpPr>
          <p:cNvPr id="9" name="Chevron 8"/>
          <p:cNvSpPr/>
          <p:nvPr/>
        </p:nvSpPr>
        <p:spPr>
          <a:xfrm>
            <a:off x="2999917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973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9141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141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接到 games 尾端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141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concat 到既有 games 表最後一列，不修改任何既有資料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9251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7307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8475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475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呼叫 build_features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475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與訓練時完全相同的特徵管線，所有滾動/Elo/h2h 皆已 shift(1)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585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6641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7809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7809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取出該列特徵 →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7809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合成列的佔位值不會回頭影響自己或任何既有比賽的特徵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11094415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663440"/>
            <a:ext cx="1054577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為什麼安全：features.py 所有特徵皆先 shift(1) 才計算，合成列是資料最後一場、之後沒有其他比賽會用到它 → 不會污染自己也不會污染任何既有列。train/serve 用同一份 build_features 程式碼，避免管線不一致。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推論設計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Demo 與部署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Streamlit Demo：選兩隊 → 2026-27 開季勝率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63093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79"/>
            <a:ext cx="5760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Demo 互動流程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使用者選定主隊／客隊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輸出：主隊勝率（%）、勝負判定、關鍵特徵（Elo 期望勝率、Elo 差值、賽季勝率差、近況勝率差、對戰歷史等）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預設不依實際賽程，模擬「2026-27 新賽季開季」：SEASON 取最新賽季+1，觸發跨賽季 Elo 回歸，反映開季重新洗牌的基準戰力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頁籤附欄位定義與資料來源說明，方便非技術聽眾理解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737360"/>
            <a:ext cx="4325112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11679"/>
            <a:ext cx="3794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交付與部署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GitHub repo：NBA-Analyst（public）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requirements.txt（App 執行）／requirements-dev.txt（開發）分離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預訓練模型 models/best_model.joblib 納入版控，Cloud 端免現場訓練、秒開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已部署至 Streamlit Community Cloud：
nba-analyst-ktgfbnvixska5ghseefnm8.streamlit.app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Demo 與部署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未來方向與結論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每日自動更新重訓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每日抓取新賽果，排程重跑特徵管線與訓練，
讓 Elo／滾動狀態與模型持續反映最新戰況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賽季中任一日期預測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推廣合成比賽法，支援指定賽季中任一日期的
預測，不侷限於開季基準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396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6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傷兵／輪休／疲勞特徵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納入傷兵名單、輪休(load management)、
背靠背與連續客場的行程疲勞訊號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62272"/>
            <a:ext cx="11094415" cy="11887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104543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結論　</a:t>
            </a: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Logistic Regression 以 Accuracy 67.84%（優於 baseline +12.90 pp）、ROC-AUC 0.7292 勝出；43 個賽前特徵 + Elo + 嚴謹防洩漏設計（3 條測試、時序切分、shift(1)）、pytest 12/12 全綠，並以合成比賽法完成 train/serve 一致的推論與 Demo。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未來方向與結論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